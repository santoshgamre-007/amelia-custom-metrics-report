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4Wf3QVxPxiKy8ja+4jTQ5dcEP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0C5E44-50C1-46FA-9A1B-FC577012EBA7}">
  <a:tblStyle styleId="{B50C5E44-50C1-46FA-9A1B-FC577012EBA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Contained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Wed 10/07</c:v>
                </c:pt>
                <c:pt idx="1">
                  <c:v>Thu 10/08</c:v>
                </c:pt>
                <c:pt idx="2">
                  <c:v>Fri 10/09 †</c:v>
                </c:pt>
                <c:pt idx="3">
                  <c:v>Sat 10/10</c:v>
                </c:pt>
                <c:pt idx="4">
                  <c:v>Sun 10/11</c:v>
                </c:pt>
                <c:pt idx="5">
                  <c:v>Mon 10/12 early †</c:v>
                </c:pt>
                <c:pt idx="6">
                  <c:v>Mon 10/12 night</c:v>
                </c:pt>
                <c:pt idx="7">
                  <c:v>Tue 10/13 night</c:v>
                </c:pt>
                <c:pt idx="8">
                  <c:v>Wed 10/14 night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3</c:v>
                </c:pt>
                <c:pt idx="4">
                  <c:v>5</c:v>
                </c:pt>
                <c:pt idx="5">
                  <c:v>1</c:v>
                </c:pt>
                <c:pt idx="6">
                  <c:v>2</c:v>
                </c:pt>
                <c:pt idx="7">
                  <c:v>0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1-43ED-AEC5-2D93FE853A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Abandoned</c:v>
                </c:pt>
              </c:strCache>
            </c:strRef>
          </c:tx>
          <c:spPr>
            <a:solidFill>
              <a:srgbClr val="C48A12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Wed 10/07</c:v>
                </c:pt>
                <c:pt idx="1">
                  <c:v>Thu 10/08</c:v>
                </c:pt>
                <c:pt idx="2">
                  <c:v>Fri 10/09 †</c:v>
                </c:pt>
                <c:pt idx="3">
                  <c:v>Sat 10/10</c:v>
                </c:pt>
                <c:pt idx="4">
                  <c:v>Sun 10/11</c:v>
                </c:pt>
                <c:pt idx="5">
                  <c:v>Mon 10/12 early †</c:v>
                </c:pt>
                <c:pt idx="6">
                  <c:v>Mon 10/12 night</c:v>
                </c:pt>
                <c:pt idx="7">
                  <c:v>Tue 10/13 night</c:v>
                </c:pt>
                <c:pt idx="8">
                  <c:v>Wed 10/14 night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</c:v>
                </c:pt>
                <c:pt idx="1">
                  <c:v>12</c:v>
                </c:pt>
                <c:pt idx="2">
                  <c:v>1</c:v>
                </c:pt>
                <c:pt idx="3">
                  <c:v>14</c:v>
                </c:pt>
                <c:pt idx="4">
                  <c:v>13</c:v>
                </c:pt>
                <c:pt idx="5">
                  <c:v>0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1-43ED-AEC5-2D93FE853A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</c:v>
                </c:pt>
              </c:strCache>
            </c:strRef>
          </c:tx>
          <c:spPr>
            <a:solidFill>
              <a:srgbClr val="2458A6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Wed 10/07</c:v>
                </c:pt>
                <c:pt idx="1">
                  <c:v>Thu 10/08</c:v>
                </c:pt>
                <c:pt idx="2">
                  <c:v>Fri 10/09 †</c:v>
                </c:pt>
                <c:pt idx="3">
                  <c:v>Sat 10/10</c:v>
                </c:pt>
                <c:pt idx="4">
                  <c:v>Sun 10/11</c:v>
                </c:pt>
                <c:pt idx="5">
                  <c:v>Mon 10/12 early †</c:v>
                </c:pt>
                <c:pt idx="6">
                  <c:v>Mon 10/12 night</c:v>
                </c:pt>
                <c:pt idx="7">
                  <c:v>Tue 10/13 night</c:v>
                </c:pt>
                <c:pt idx="8">
                  <c:v>Wed 10/14 night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15</c:v>
                </c:pt>
                <c:pt idx="1">
                  <c:v>40</c:v>
                </c:pt>
                <c:pt idx="2">
                  <c:v>16</c:v>
                </c:pt>
                <c:pt idx="3">
                  <c:v>81</c:v>
                </c:pt>
                <c:pt idx="4">
                  <c:v>87</c:v>
                </c:pt>
                <c:pt idx="5">
                  <c:v>10</c:v>
                </c:pt>
                <c:pt idx="6">
                  <c:v>20</c:v>
                </c:pt>
                <c:pt idx="7">
                  <c:v>44</c:v>
                </c:pt>
                <c:pt idx="8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B1-43ED-AEC5-2D93FE853AE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44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</c:scaling>
        <c:delete val="0"/>
        <c:axPos val="l"/>
        <c:majorGridlines>
          <c:spPr>
            <a:ln w="6350" cap="flat">
              <a:solidFill>
                <a:srgbClr val="E4D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4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45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C48A1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16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Mid-flow, after a prompt from Amelia</c:v>
                </c:pt>
                <c:pt idx="1">
                  <c:v>Username prompt</c:v>
                </c:pt>
                <c:pt idx="2">
                  <c:v>"How can I help you today?"</c:v>
                </c:pt>
                <c:pt idx="3">
                  <c:v>Phone number prompt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13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F6-41FB-85EF-5A2911E1E6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44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245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16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Caller asked for a person</c:v>
                </c:pt>
                <c:pt idx="1">
                  <c:v>Unsupported request</c:v>
                </c:pt>
                <c:pt idx="2">
                  <c:v>Escalated by design</c:v>
                </c:pt>
                <c:pt idx="3">
                  <c:v>Repeated unclear answers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144</c:v>
                </c:pt>
                <c:pt idx="1">
                  <c:v>84</c:v>
                </c:pt>
                <c:pt idx="2">
                  <c:v>54</c:v>
                </c:pt>
                <c:pt idx="3">
                  <c:v>39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83-4846-B096-D33C9CF4CB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44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16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Password reset</c:v>
                </c:pt>
                <c:pt idx="1">
                  <c:v>Authenticator enrollment</c:v>
                </c:pt>
                <c:pt idx="2">
                  <c:v>Restart computer</c:v>
                </c:pt>
                <c:pt idx="3">
                  <c:v>Smart Square mobile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23-4BEC-9C04-8FB132BAEC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44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9ebc370f31d9e51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h49ebc370f31d9e51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49ebc370f31d9e51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49ebc370f31d9e51_0_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h49ebc370f31d9e51_0_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49ebc370f31d9e51_0_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6fd9ff694c5a94f2_0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h6fd9ff694c5a94f2_0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h6fd9ff694c5a94f2_0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6fd9ff694c5a94f2_0_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h6fd9ff694c5a94f2_0_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6fd9ff694c5a94f2_0_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6611112" y="1463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Since Go Live — 414 Calls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548640" y="98755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1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6528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2679192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31520" y="1444752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414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31520" y="2194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Total conversations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31520" y="2578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346704" y="1371600"/>
            <a:ext cx="2679192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3529584" y="1444752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6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1E7A46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4672584" y="1444752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7A46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1E7A46"/>
                </a:solidFill>
                <a:latin typeface="Georgia"/>
                <a:ea typeface="Georgia"/>
                <a:cs typeface="Georgia"/>
                <a:sym typeface="Georgia"/>
              </a:rPr>
              <a:t>4.8%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3529584" y="2194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Contained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3529584" y="2578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144768" y="1371600"/>
            <a:ext cx="2679192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6327648" y="1444752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A12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C48A12"/>
                </a:solidFill>
                <a:latin typeface="Georgia"/>
                <a:ea typeface="Georgia"/>
                <a:cs typeface="Georgia"/>
                <a:sym typeface="Georgia"/>
              </a:rPr>
              <a:t>57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7470648" y="1444752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8A12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C48A12"/>
                </a:solidFill>
                <a:latin typeface="Georgia"/>
                <a:ea typeface="Georgia"/>
                <a:cs typeface="Georgia"/>
                <a:sym typeface="Georgia"/>
              </a:rPr>
              <a:t>13.8%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6327648" y="2194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Abandoned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6327648" y="2578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942832" y="1371600"/>
            <a:ext cx="2679192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9125712" y="1444752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8A6"/>
              </a:buClr>
              <a:buSzPts val="4200"/>
              <a:buFont typeface="Georgia"/>
              <a:buNone/>
            </a:pPr>
            <a:r>
              <a:rPr b="1" lang="en-US" sz="4200">
                <a:solidFill>
                  <a:srgbClr val="2458A6"/>
                </a:solidFill>
                <a:latin typeface="Georgia"/>
                <a:ea typeface="Georgia"/>
                <a:cs typeface="Georgia"/>
                <a:sym typeface="Georgia"/>
              </a:rPr>
              <a:t>337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0268712" y="1444752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458A6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2458A6"/>
                </a:solidFill>
                <a:latin typeface="Georgia"/>
                <a:ea typeface="Georgia"/>
                <a:cs typeface="Georgia"/>
                <a:sym typeface="Georgia"/>
              </a:rPr>
              <a:t>81.4%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9125712" y="2194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Escalated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9125712" y="257860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48640" y="3017520"/>
            <a:ext cx="11091672" cy="292608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731520" y="3081528"/>
            <a:ext cx="10725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Average handle time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731520" y="3328416"/>
            <a:ext cx="107259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777240" y="3703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A46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1E7A46"/>
                </a:solidFill>
                <a:latin typeface="Georgia"/>
                <a:ea typeface="Georgia"/>
                <a:cs typeface="Georgia"/>
                <a:sym typeface="Georgia"/>
              </a:rPr>
              <a:t>4:05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777240" y="4663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Contained (20 calls)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3502152" y="3703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8A12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C48A12"/>
                </a:solidFill>
                <a:latin typeface="Georgia"/>
                <a:ea typeface="Georgia"/>
                <a:cs typeface="Georgia"/>
                <a:sym typeface="Georgia"/>
              </a:rPr>
              <a:t>1:41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3502152" y="4663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Abandoned (57 calls)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6227064" y="3703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8A6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2458A6"/>
                </a:solidFill>
                <a:latin typeface="Georgia"/>
                <a:ea typeface="Georgia"/>
                <a:cs typeface="Georgia"/>
                <a:sym typeface="Georgia"/>
              </a:rPr>
              <a:t>2:10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6227064" y="4663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Escalated (337 calls)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951976" y="3703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2:12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951976" y="4663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All calls (414)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Contained = Amelia gave steps or a link, the caller accepted it, and the call was not transferred.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6611112" y="1463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Calls by Reporting Window (ET)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48640" y="98755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2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548640" y="6528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" y="1371600"/>
            <a:ext cx="704088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731520" y="1435608"/>
            <a:ext cx="6675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Calls by window and outcome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731520" y="1682496"/>
            <a:ext cx="6675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" name="Google Shape;63;p2"/>
          <p:cNvGraphicFramePr/>
          <p:nvPr/>
        </p:nvGraphicFramePr>
        <p:xfrm>
          <a:off x="640080" y="1874520"/>
          <a:ext cx="6858000" cy="39776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4" name="Google Shape;64;p2"/>
          <p:cNvSpPr/>
          <p:nvPr/>
        </p:nvSpPr>
        <p:spPr>
          <a:xfrm>
            <a:off x="7708392" y="1371600"/>
            <a:ext cx="3931920" cy="457200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7891272" y="14356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Numbers by window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7891272" y="1682496"/>
            <a:ext cx="35661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" name="Google Shape;67;p2"/>
          <p:cNvGraphicFramePr/>
          <p:nvPr/>
        </p:nvGraphicFramePr>
        <p:xfrm>
          <a:off x="781812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{B50C5E44-50C1-46FA-9A1B-FC577012EBA7}</a:tableStyleId>
              </a:tblPr>
              <a:tblGrid>
                <a:gridCol w="1508750"/>
                <a:gridCol w="548650"/>
                <a:gridCol w="502925"/>
                <a:gridCol w="548650"/>
                <a:gridCol w="5943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Wed 10/07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Thu 10/08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 10/09 †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 10/10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 10/11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 10/12 early †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 10/12 night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Tue 10/13 night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Wed 10/14 night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windows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2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45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4A4458"/>
                </a:solidFill>
                <a:latin typeface="Calibri"/>
                <a:ea typeface="Calibri"/>
                <a:cs typeface="Calibri"/>
                <a:sym typeface="Calibri"/>
              </a:rPr>
              <a:t>Windows (ET): weekdays 8 PM to 6 AM; Saturday and Sunday for the full 24 hours. † Fri 10/09 ends at 12 AM because Saturday starts at 12 AM; Mon 10/12 early is 12 AM to 6 AM. Weekday daytime calls are not in the data. C = contained, A = abandoned, E = escalated.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6611112" y="1463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Why Calls Abandoned and Escalated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548640" y="98755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3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548640" y="6528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1371600"/>
            <a:ext cx="5468112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731520" y="1435608"/>
            <a:ext cx="5102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Where callers abandoned (all 57)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731520" y="1682496"/>
            <a:ext cx="5102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3"/>
          <p:cNvGraphicFramePr/>
          <p:nvPr/>
        </p:nvGraphicFramePr>
        <p:xfrm>
          <a:off x="640080" y="1828800"/>
          <a:ext cx="5303520" cy="3017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4" name="Google Shape;84;p3"/>
          <p:cNvSpPr/>
          <p:nvPr/>
        </p:nvSpPr>
        <p:spPr>
          <a:xfrm>
            <a:off x="6172200" y="1371600"/>
            <a:ext cx="5468112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6355080" y="1435608"/>
            <a:ext cx="5102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What drove escalations (all 337)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6355080" y="1682496"/>
            <a:ext cx="5102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3"/>
          <p:cNvGraphicFramePr/>
          <p:nvPr/>
        </p:nvGraphicFramePr>
        <p:xfrm>
          <a:off x="6263640" y="1828800"/>
          <a:ext cx="5303520" cy="3017520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6611112" y="1463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Contained Calls by KB Topic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548640" y="98755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4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548640" y="6528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1371600"/>
            <a:ext cx="667512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31520" y="1435608"/>
            <a:ext cx="6309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Contained calls by KB article (all 20)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731520" y="1682496"/>
            <a:ext cx="63093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4"/>
          <p:cNvGraphicFramePr/>
          <p:nvPr/>
        </p:nvGraphicFramePr>
        <p:xfrm>
          <a:off x="73152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{B50C5E44-50C1-46FA-9A1B-FC577012EBA7}</a:tableStyleId>
              </a:tblPr>
              <a:tblGrid>
                <a:gridCol w="3383275"/>
                <a:gridCol w="1005850"/>
                <a:gridCol w="822950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 article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 number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Reset Your Penn State Health Password / Requirements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KB0023618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to enroll a New Device - Microsoft Authenticator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KB0023388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Restarting Computer Instead of Shutting Down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KB0024688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do I access Smart Square on my mobile device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KB0024440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contained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4"/>
          <p:cNvSpPr txBox="1"/>
          <p:nvPr/>
        </p:nvSpPr>
        <p:spPr>
          <a:xfrm>
            <a:off x="777240" y="512064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Password reset made up 70% of the contained calls and Authenticator enrollment 20%. All other KB topics together contained 2 calls.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342632" y="1371600"/>
            <a:ext cx="4297680" cy="4572000"/>
          </a:xfrm>
          <a:prstGeom prst="roundRect">
            <a:avLst>
              <a:gd fmla="val 2128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7525512" y="14356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Contained calls by topic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7525512" y="1682496"/>
            <a:ext cx="39319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4"/>
          <p:cNvGraphicFramePr/>
          <p:nvPr/>
        </p:nvGraphicFramePr>
        <p:xfrm>
          <a:off x="7434072" y="1874520"/>
          <a:ext cx="4114800" cy="393192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49ebc370f31d9e51_0_0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h49ebc370f31d9e51_0_0"/>
          <p:cNvSpPr/>
          <p:nvPr/>
        </p:nvSpPr>
        <p:spPr>
          <a:xfrm>
            <a:off x="0" y="64008"/>
            <a:ext cx="12191700" cy="27300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h49ebc370f31d9e51_0_0"/>
          <p:cNvSpPr txBox="1"/>
          <p:nvPr/>
        </p:nvSpPr>
        <p:spPr>
          <a:xfrm>
            <a:off x="6611112" y="146304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h49ebc370f31d9e51_0_0"/>
          <p:cNvSpPr txBox="1"/>
          <p:nvPr/>
        </p:nvSpPr>
        <p:spPr>
          <a:xfrm>
            <a:off x="548640" y="457200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Opening Info Gathering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h49ebc370f31d9e51_0_0"/>
          <p:cNvSpPr txBox="1"/>
          <p:nvPr/>
        </p:nvSpPr>
        <p:spPr>
          <a:xfrm>
            <a:off x="548640" y="987552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3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49ebc370f31d9e51_0_0"/>
          <p:cNvSpPr txBox="1"/>
          <p:nvPr/>
        </p:nvSpPr>
        <p:spPr>
          <a:xfrm>
            <a:off x="548640" y="6528816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h49ebc370f31d9e51_0_0"/>
          <p:cNvSpPr/>
          <p:nvPr/>
        </p:nvSpPr>
        <p:spPr>
          <a:xfrm>
            <a:off x="548640" y="1371600"/>
            <a:ext cx="54681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h49ebc370f31d9e51_0_0"/>
          <p:cNvSpPr txBox="1"/>
          <p:nvPr/>
        </p:nvSpPr>
        <p:spPr>
          <a:xfrm>
            <a:off x="731520" y="1435608"/>
            <a:ext cx="510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Name Capture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h49ebc370f31d9e51_0_0"/>
          <p:cNvSpPr txBox="1"/>
          <p:nvPr/>
        </p:nvSpPr>
        <p:spPr>
          <a:xfrm>
            <a:off x="731520" y="1682496"/>
            <a:ext cx="5102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h49ebc370f31d9e51_0_0"/>
          <p:cNvSpPr/>
          <p:nvPr/>
        </p:nvSpPr>
        <p:spPr>
          <a:xfrm>
            <a:off x="6172200" y="1371600"/>
            <a:ext cx="54681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h49ebc370f31d9e51_0_0"/>
          <p:cNvSpPr txBox="1"/>
          <p:nvPr/>
        </p:nvSpPr>
        <p:spPr>
          <a:xfrm>
            <a:off x="6355080" y="1435608"/>
            <a:ext cx="510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Username</a:t>
            </a: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 Capture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h49ebc370f31d9e51_0_0"/>
          <p:cNvSpPr txBox="1"/>
          <p:nvPr/>
        </p:nvSpPr>
        <p:spPr>
          <a:xfrm>
            <a:off x="6355080" y="1682496"/>
            <a:ext cx="5102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h49ebc370f31d9e5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37" y="1982275"/>
            <a:ext cx="4937925" cy="37013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200"/>
              </a:srgbClr>
            </a:outerShdw>
          </a:effectLst>
        </p:spPr>
      </p:pic>
      <p:pic>
        <p:nvPicPr>
          <p:cNvPr id="126" name="Google Shape;126;h49ebc370f31d9e5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775" y="2071250"/>
            <a:ext cx="5102401" cy="3523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9ebc370f31d9e51_0_23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h49ebc370f31d9e51_0_23"/>
          <p:cNvSpPr/>
          <p:nvPr/>
        </p:nvSpPr>
        <p:spPr>
          <a:xfrm>
            <a:off x="0" y="64008"/>
            <a:ext cx="12191700" cy="27300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h49ebc370f31d9e51_0_23"/>
          <p:cNvSpPr txBox="1"/>
          <p:nvPr/>
        </p:nvSpPr>
        <p:spPr>
          <a:xfrm>
            <a:off x="6611112" y="146304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h49ebc370f31d9e51_0_23"/>
          <p:cNvSpPr txBox="1"/>
          <p:nvPr/>
        </p:nvSpPr>
        <p:spPr>
          <a:xfrm>
            <a:off x="548640" y="457200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Opening Info Gathering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h49ebc370f31d9e51_0_23"/>
          <p:cNvSpPr txBox="1"/>
          <p:nvPr/>
        </p:nvSpPr>
        <p:spPr>
          <a:xfrm>
            <a:off x="548640" y="987552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3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h49ebc370f31d9e51_0_23"/>
          <p:cNvSpPr txBox="1"/>
          <p:nvPr/>
        </p:nvSpPr>
        <p:spPr>
          <a:xfrm>
            <a:off x="548640" y="6528816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h49ebc370f31d9e51_0_23"/>
          <p:cNvSpPr/>
          <p:nvPr/>
        </p:nvSpPr>
        <p:spPr>
          <a:xfrm>
            <a:off x="548640" y="1371600"/>
            <a:ext cx="54681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49ebc370f31d9e51_0_23"/>
          <p:cNvSpPr txBox="1"/>
          <p:nvPr/>
        </p:nvSpPr>
        <p:spPr>
          <a:xfrm>
            <a:off x="731520" y="1435608"/>
            <a:ext cx="510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Phone Capture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h49ebc370f31d9e51_0_23"/>
          <p:cNvSpPr txBox="1"/>
          <p:nvPr/>
        </p:nvSpPr>
        <p:spPr>
          <a:xfrm>
            <a:off x="731520" y="1682496"/>
            <a:ext cx="5102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h49ebc370f31d9e51_0_23"/>
          <p:cNvSpPr/>
          <p:nvPr/>
        </p:nvSpPr>
        <p:spPr>
          <a:xfrm>
            <a:off x="6172200" y="1371600"/>
            <a:ext cx="54681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49ebc370f31d9e51_0_23"/>
          <p:cNvSpPr txBox="1"/>
          <p:nvPr/>
        </p:nvSpPr>
        <p:spPr>
          <a:xfrm>
            <a:off x="6355080" y="1435608"/>
            <a:ext cx="510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Location Capture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49ebc370f31d9e51_0_23"/>
          <p:cNvSpPr txBox="1"/>
          <p:nvPr/>
        </p:nvSpPr>
        <p:spPr>
          <a:xfrm>
            <a:off x="6355080" y="1682496"/>
            <a:ext cx="5102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h49ebc370f31d9e51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26" y="2016825"/>
            <a:ext cx="4937916" cy="358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h49ebc370f31d9e51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1626" y="2016825"/>
            <a:ext cx="4789287" cy="35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6fd9ff694c5a94f2_0_6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h6fd9ff694c5a94f2_0_6"/>
          <p:cNvSpPr/>
          <p:nvPr/>
        </p:nvSpPr>
        <p:spPr>
          <a:xfrm>
            <a:off x="0" y="64008"/>
            <a:ext cx="12191700" cy="27300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h6fd9ff694c5a94f2_0_6"/>
          <p:cNvSpPr txBox="1"/>
          <p:nvPr/>
        </p:nvSpPr>
        <p:spPr>
          <a:xfrm>
            <a:off x="6611112" y="146304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h6fd9ff694c5a94f2_0_6"/>
          <p:cNvSpPr txBox="1"/>
          <p:nvPr/>
        </p:nvSpPr>
        <p:spPr>
          <a:xfrm>
            <a:off x="548640" y="457200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Password Reset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h6fd9ff694c5a94f2_0_6"/>
          <p:cNvSpPr txBox="1"/>
          <p:nvPr/>
        </p:nvSpPr>
        <p:spPr>
          <a:xfrm>
            <a:off x="548640" y="987552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3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h6fd9ff694c5a94f2_0_6"/>
          <p:cNvSpPr txBox="1"/>
          <p:nvPr/>
        </p:nvSpPr>
        <p:spPr>
          <a:xfrm>
            <a:off x="548640" y="6528816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h6fd9ff694c5a94f2_0_6"/>
          <p:cNvSpPr/>
          <p:nvPr/>
        </p:nvSpPr>
        <p:spPr>
          <a:xfrm>
            <a:off x="548640" y="1371600"/>
            <a:ext cx="54681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h6fd9ff694c5a94f2_0_6"/>
          <p:cNvSpPr txBox="1"/>
          <p:nvPr/>
        </p:nvSpPr>
        <p:spPr>
          <a:xfrm>
            <a:off x="731520" y="1435608"/>
            <a:ext cx="510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PSH Password Reset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h6fd9ff694c5a94f2_0_6"/>
          <p:cNvSpPr txBox="1"/>
          <p:nvPr/>
        </p:nvSpPr>
        <p:spPr>
          <a:xfrm>
            <a:off x="731520" y="1682496"/>
            <a:ext cx="5102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h6fd9ff694c5a94f2_0_6"/>
          <p:cNvSpPr/>
          <p:nvPr/>
        </p:nvSpPr>
        <p:spPr>
          <a:xfrm>
            <a:off x="6172200" y="1371600"/>
            <a:ext cx="54681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h6fd9ff694c5a94f2_0_6"/>
          <p:cNvSpPr txBox="1"/>
          <p:nvPr/>
        </p:nvSpPr>
        <p:spPr>
          <a:xfrm>
            <a:off x="6355080" y="1435608"/>
            <a:ext cx="510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Other Password Reset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6fd9ff694c5a94f2_0_6"/>
          <p:cNvSpPr txBox="1"/>
          <p:nvPr/>
        </p:nvSpPr>
        <p:spPr>
          <a:xfrm>
            <a:off x="6355080" y="1682496"/>
            <a:ext cx="5102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h6fd9ff694c5a94f2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872" y="2016825"/>
            <a:ext cx="5251966" cy="358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h6fd9ff694c5a94f2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7137" y="2016828"/>
            <a:ext cx="5218223" cy="35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6611112" y="1463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Recommendations &amp; Feedback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548640" y="98755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5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548640" y="6528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48640" y="1371600"/>
            <a:ext cx="11091672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731520" y="1435608"/>
            <a:ext cx="10725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Opportunities for improvement going forward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731520" y="1682496"/>
            <a:ext cx="107259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5"/>
          <p:cNvGraphicFramePr/>
          <p:nvPr/>
        </p:nvGraphicFramePr>
        <p:xfrm>
          <a:off x="68580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{B50C5E44-50C1-46FA-9A1B-FC577012EBA7}</a:tableStyleId>
              </a:tblPr>
              <a:tblGrid>
                <a:gridCol w="365750"/>
                <a:gridCol w="3931925"/>
                <a:gridCol w="52395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Opportunity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Summary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Adjusting the Demographic Info Capturing Pattern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Shift the call flow around so purpose of call is asked prior to gathering caller info for case/ticket creation.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 Agent </a:t>
                      </a:r>
                      <a:r>
                        <a:rPr b="1" lang="en-US" sz="1100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Rebuttal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callers initially request an agent - attempt to gather purpose of call again prior to escalating.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 Reset Adjustments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non-PSH account resets - attempt to gather which password they need to reset.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Onboarding vs Existing Access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Look to better split UX on various topics based on the state of the user’s account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fd9ff694c5a94f2_0_27"/>
          <p:cNvSpPr/>
          <p:nvPr/>
        </p:nvSpPr>
        <p:spPr>
          <a:xfrm>
            <a:off x="0" y="0"/>
            <a:ext cx="12191700" cy="63900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h6fd9ff694c5a94f2_0_27"/>
          <p:cNvSpPr/>
          <p:nvPr/>
        </p:nvSpPr>
        <p:spPr>
          <a:xfrm>
            <a:off x="0" y="64008"/>
            <a:ext cx="12191700" cy="27300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h6fd9ff694c5a94f2_0_27"/>
          <p:cNvSpPr txBox="1"/>
          <p:nvPr/>
        </p:nvSpPr>
        <p:spPr>
          <a:xfrm>
            <a:off x="6611112" y="146304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h6fd9ff694c5a94f2_0_27"/>
          <p:cNvSpPr txBox="1"/>
          <p:nvPr/>
        </p:nvSpPr>
        <p:spPr>
          <a:xfrm>
            <a:off x="548640" y="457200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Top 5 Reasons Amelia Could Not Contain Calls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6fd9ff694c5a94f2_0_27"/>
          <p:cNvSpPr txBox="1"/>
          <p:nvPr/>
        </p:nvSpPr>
        <p:spPr>
          <a:xfrm>
            <a:off x="548640" y="987552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5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h6fd9ff694c5a94f2_0_27"/>
          <p:cNvSpPr txBox="1"/>
          <p:nvPr/>
        </p:nvSpPr>
        <p:spPr>
          <a:xfrm>
            <a:off x="548640" y="6528816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6fd9ff694c5a94f2_0_27"/>
          <p:cNvSpPr/>
          <p:nvPr/>
        </p:nvSpPr>
        <p:spPr>
          <a:xfrm>
            <a:off x="548640" y="1371600"/>
            <a:ext cx="110916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h6fd9ff694c5a94f2_0_27"/>
          <p:cNvSpPr txBox="1"/>
          <p:nvPr/>
        </p:nvSpPr>
        <p:spPr>
          <a:xfrm>
            <a:off x="731520" y="1435608"/>
            <a:ext cx="1072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Why 394 of the 414 calls were not contained (each call counted once, under its main reason)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h6fd9ff694c5a94f2_0_27"/>
          <p:cNvSpPr txBox="1"/>
          <p:nvPr/>
        </p:nvSpPr>
        <p:spPr>
          <a:xfrm>
            <a:off x="731520" y="1682496"/>
            <a:ext cx="10725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h6fd9ff694c5a94f2_0_27"/>
          <p:cNvGraphicFramePr/>
          <p:nvPr/>
        </p:nvGraphicFramePr>
        <p:xfrm>
          <a:off x="68580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{B50C5E44-50C1-46FA-9A1B-FC577012EBA7}</a:tableStyleId>
              </a:tblPr>
              <a:tblGrid>
                <a:gridCol w="365750"/>
                <a:gridCol w="3931925"/>
                <a:gridCol w="640075"/>
                <a:gridCol w="640075"/>
                <a:gridCol w="52395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reason Amelia could not contain the call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happened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Caller never stated their intent: asked for a person right away, gave no usable answers, or hung up during intake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Asked for an agent or IT without describing an issue (60 calls); “idk” or unclear answers at intake (26); hung up during intake (33)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Cerner, PowerChart, FirstNet or Revenue Cycle not opening: no self-service path, so transferred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FirstNet, PowerChart, FastPass, Cerner and Revenue Cycle not opening, frozen or not letting the caller sign in; transferred with no self-service answer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 Amelia does not support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Hospital devices such as TVs, armbands, monitors, pagers and phones (16); internet and Wi-Fi (5); lab and imaging systems (4); onboarding and access requests (4); printers, copiers and fax (4); other or unclear requests (27)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Locked out or cannot log in: qualifying questions did not lead to a fix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Locked out, blocked or disabled, or cannot log in. Amelia asked “reset your network password?” and “password for another system?” before transferring (27 of the 55 calls); 7 callers hung up mid-flow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Self-service steps or link did not work for the caller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 or steps given, but the caller did not receive the text, said it did not help, or asked for a person: password reset links (18), Authenticator (17), computer restart and taskbar steps (11), remote access (6), email apps (3)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(calls not contained)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2F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E22CE"/>
          </a:solidFill>
          <a:ln cap="flat" cmpd="sng" w="12700">
            <a:solidFill>
              <a:srgbClr val="7E22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0" y="64008"/>
            <a:ext cx="12191695" cy="27432"/>
          </a:xfrm>
          <a:prstGeom prst="rect">
            <a:avLst/>
          </a:prstGeom>
          <a:solidFill>
            <a:srgbClr val="C471FC"/>
          </a:solidFill>
          <a:ln cap="flat" cmpd="sng" w="12700">
            <a:solidFill>
              <a:srgbClr val="C471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6611112" y="1463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Penn State Health + Experis + SoundHound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What Callers Needed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548640" y="987552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414 conversations since go live, Wed 10/07 8:17 PM to Thu 10/15 6:00 AM ET • 6 of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548640" y="6528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©2026 SoundHound AI, Inc. Confidential and Proprietary.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48640" y="1371600"/>
            <a:ext cx="11091672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4DD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D9D2E8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731520" y="1435608"/>
            <a:ext cx="10725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1636"/>
              </a:buClr>
              <a:buSzPts val="1250"/>
              <a:buFont typeface="Georgia"/>
              <a:buNone/>
            </a:pPr>
            <a:r>
              <a:rPr b="1" lang="en-US" sz="1250">
                <a:solidFill>
                  <a:srgbClr val="2A1636"/>
                </a:solidFill>
                <a:latin typeface="Georgia"/>
                <a:ea typeface="Georgia"/>
                <a:cs typeface="Georgia"/>
                <a:sym typeface="Georgia"/>
              </a:rPr>
              <a:t>Calling reasons (all 414)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731520" y="1682496"/>
            <a:ext cx="1072591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127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511279"/>
                </a:solidFill>
                <a:latin typeface="Calibri"/>
                <a:ea typeface="Calibri"/>
                <a:cs typeface="Calibri"/>
                <a:sym typeface="Calibri"/>
              </a:rPr>
              <a:t>Data: Wed 10/07 8:17 PM – Thu 10/15 6:00 AM 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6"/>
          <p:cNvGraphicFramePr/>
          <p:nvPr/>
        </p:nvGraphicFramePr>
        <p:xfrm>
          <a:off x="73152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{B50C5E44-50C1-46FA-9A1B-FC577012EBA7}</a:tableStyleId>
              </a:tblPr>
              <a:tblGrid>
                <a:gridCol w="8138150"/>
                <a:gridCol w="1280150"/>
                <a:gridCol w="13076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1127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Cerner, PowerChart, FirstNet or Revenue Cycle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25.6%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Locked out, password or sign-in problem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Asked for a person, no issue stated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usable answers or hung up during intake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hospital IT requests (devices, printers, onboarding, lab)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9.2%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Authenticator on a phone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Computer, Wi-Fi or app problems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and mobile apps (Outlook, Smart Square, TigerConnect)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E22C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E22C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Remote access (Remote Access Portal, VPN, Citrix)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DD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2026-10-15T12:00:09Z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2026-10-15T12:25:05Z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993a5710-6681-452e-a85c-f767f674bb17</vt:lpwstr>
  </property>
  <property fmtid="{D5CDD505-2E9C-101B-9397-08002B2CF9AE}" pid="7" name="MSIP_Label_defa4170-0d19-0005-0004-bc88714345d2_ActionId">
    <vt:lpwstr>49a90251-fd44-451c-a29b-d587d7f261be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